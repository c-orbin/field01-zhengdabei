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000000" accent2="333333" accent3="666666" accent4="999999" accent5="BDBDBD" accent6="E6E6E6" bg1="FFFFFF" bg2="F2F2EF" folHlink="000000" hlink="000000" tx1="0A0A0A" tx2="FFFFFF"/>
  <p:sldLayoutIdLst>
    <p:sldLayoutId id="2147483649" r:id="rId1"/>
  </p:sldLayoutIdLst>
  <p:txStyles>
    <p:titleStyle>
      <a:lvl1pPr algn="l">
        <a:defRPr lang="zh-CN" sz="2800"/>
      </a:lvl1pPr>
    </p:titleStyle>
    <p:bodyStyle>
      <a:lvl1pPr algn="l">
        <a:defRPr lang="zh-CN" sz="1600"/>
      </a:lvl1pPr>
    </p:bodyStyle>
    <p:otherStyle>
      <a:lvl1pPr algn="l">
        <a:defRPr lang="zh-CN" sz="12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FFFFFF"/>
                </a:solidFill>
                <a:latin typeface="Arial"/>
                <a:ea typeface="Courier New"/>
              </a:rPr>
              <a:t>FIELD / 01   RESEARCH COMPETITION KIT</a:t>
            </a:r>
            <a:endParaRPr lang="zh-CN" sz="1000"/>
          </a:p>
        </p:txBody>
      </p:sp>
      <p:sp>
        <p:nvSpPr>
          <p:cNvPr id="4" name="Text 4"/>
          <p:cNvSpPr txBox="1"/>
          <p:nvPr/>
        </p:nvSpPr>
        <p:spPr>
          <a:xfrm>
            <a:off x="640080" y="13258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400" b="1" dirty="0">
                <a:solidFill>
                  <a:srgbClr val="A7A7A2"/>
                </a:solidFill>
                <a:latin typeface="Arial"/>
                <a:ea typeface="Courier New"/>
              </a:rPr>
              <a:t>CASE  DECONSTRUCTION</a:t>
            </a:r>
            <a:endParaRPr lang="zh-CN" sz="1400"/>
          </a:p>
        </p:txBody>
      </p:sp>
      <p:sp>
        <p:nvSpPr>
          <p:cNvPr id="5" name="Text 5"/>
          <p:cNvSpPr txBox="1"/>
          <p:nvPr/>
        </p:nvSpPr>
        <p:spPr>
          <a:xfrm>
            <a:off x="640080" y="1874520"/>
            <a:ext cx="987552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5700" b="1" dirty="0">
                <a:solidFill>
                  <a:srgbClr val="FFFFFF"/>
                </a:solidFill>
                <a:latin typeface="Arial"/>
                <a:ea typeface="PingFang SC"/>
              </a:rPr>
              <a:t>正大杯案例拆解</a:t>
            </a:r>
            <a:endParaRPr lang="zh-CN" sz="5700"/>
          </a:p>
          <a:p>
            <a:pPr algn="l"/>
            <a:r>
              <a:rPr lang="zh-CN" sz="5700" b="1" dirty="0">
                <a:solidFill>
                  <a:srgbClr val="FFFFFF"/>
                </a:solidFill>
                <a:latin typeface="Arial"/>
                <a:ea typeface="PingFang SC"/>
              </a:rPr>
              <a:t>模板</a:t>
            </a:r>
            <a:endParaRPr lang="zh-CN" sz="5700"/>
          </a:p>
        </p:txBody>
      </p:sp>
      <p:sp>
        <p:nvSpPr>
          <p:cNvPr id="6" name="Text 6"/>
          <p:cNvSpPr txBox="1"/>
          <p:nvPr/>
        </p:nvSpPr>
        <p:spPr>
          <a:xfrm>
            <a:off x="640080" y="516636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800" b="0" dirty="0">
                <a:solidFill>
                  <a:srgbClr val="D4D4CF"/>
                </a:solidFill>
                <a:latin typeface="Arial"/>
                <a:ea typeface="PingFang SC"/>
              </a:rPr>
              <a:t>不是复制答案。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D4D4CF"/>
                </a:solidFill>
                <a:latin typeface="Arial"/>
                <a:ea typeface="PingFang SC"/>
              </a:rPr>
              <a:t>而是还原一个可信答案的证据结构。</a:t>
            </a:r>
            <a:endParaRPr lang="zh-CN" sz="1800"/>
          </a:p>
        </p:txBody>
      </p:sp>
      <p:sp>
        <p:nvSpPr>
          <p:cNvPr id="7" name="Ellipse 7"/>
          <p:cNvSpPr/>
          <p:nvPr/>
        </p:nvSpPr>
        <p:spPr>
          <a:xfrm>
            <a:off x="8732520" y="1005840"/>
            <a:ext cx="2834640" cy="2834640"/>
          </a:xfrm>
          <a:prstGeom prst="ellipse">
            <a:avLst/>
          </a:prstGeom>
          <a:noFill/>
          <a:ln w="12700">
            <a:solidFill>
              <a:srgbClr val="72726D"/>
            </a:solidFill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9281160" y="1554480"/>
            <a:ext cx="1737360" cy="1737360"/>
          </a:xfrm>
          <a:prstGeom prst="ellipse">
            <a:avLst/>
          </a:prstGeom>
          <a:noFill/>
          <a:ln w="12700">
            <a:solidFill>
              <a:srgbClr val="72726D"/>
            </a:solidFill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9829800" y="2103120"/>
            <a:ext cx="640080" cy="64008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9052560" y="6126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800" b="0" dirty="0">
                <a:solidFill>
                  <a:srgbClr val="FFFFFF"/>
                </a:solidFill>
                <a:latin typeface="Arial"/>
                <a:ea typeface="Courier New"/>
              </a:rPr>
              <a:t>QUESTION  /  EVIDENCE  /  ACTION</a:t>
            </a:r>
            <a:endParaRPr lang="zh-CN" sz="800"/>
          </a:p>
        </p:txBody>
      </p:sp>
      <p:sp>
        <p:nvSpPr>
          <p:cNvPr id="11" name="Text 11"/>
          <p:cNvSpPr txBox="1"/>
          <p:nvPr/>
        </p:nvSpPr>
        <p:spPr>
          <a:xfrm>
            <a:off x="9052560" y="411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800" b="0" dirty="0">
                <a:solidFill>
                  <a:srgbClr val="FFFFFF"/>
                </a:solidFill>
                <a:latin typeface="Arial"/>
                <a:ea typeface="Courier New"/>
              </a:rPr>
              <a:t>FIELD NOTE  NO. 01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01 / NARRATIVE MAP</a:t>
            </a:r>
            <a:endParaRPr lang="zh-CN" sz="800"/>
          </a:p>
        </p:txBody>
      </p:sp>
      <p:sp>
        <p:nvSpPr>
          <p:cNvPr id="3" name="Text 3"/>
          <p:cNvSpPr txBox="1"/>
          <p:nvPr/>
        </p:nvSpPr>
        <p:spPr>
          <a:xfrm>
            <a:off x="594360" y="713232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800" b="1" dirty="0">
                <a:solidFill>
                  <a:srgbClr val="0A0A0A"/>
                </a:solidFill>
                <a:latin typeface="Arial"/>
                <a:ea typeface="PingFang SC"/>
              </a:rPr>
              <a:t>七页讲完一个研究故事</a:t>
            </a:r>
            <a:endParaRPr lang="zh-CN" sz="2800"/>
          </a:p>
        </p:txBody>
      </p:sp>
      <p:sp>
        <p:nvSpPr>
          <p:cNvPr id="4" name="Text 4"/>
          <p:cNvSpPr txBox="1"/>
          <p:nvPr/>
        </p:nvSpPr>
        <p:spPr>
          <a:xfrm>
            <a:off x="9692640" y="347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800" b="1" dirty="0">
                <a:solidFill>
                  <a:srgbClr val="0A0A0A"/>
                </a:solidFill>
                <a:latin typeface="Arial"/>
                <a:ea typeface="Courier New"/>
              </a:rPr>
              <a:t>FIELD / 01</a:t>
            </a:r>
            <a:endParaRPr lang="zh-CN" sz="800"/>
          </a:p>
        </p:txBody>
      </p:sp>
      <p:sp>
        <p:nvSpPr>
          <p:cNvPr id="10" name="Shape 10"/>
          <p:cNvSpPr/>
          <p:nvPr/>
        </p:nvSpPr>
        <p:spPr>
          <a:xfrm>
            <a:off x="59436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5895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01</a:t>
            </a:r>
            <a:endParaRPr lang="zh-CN" sz="1000"/>
          </a:p>
        </p:txBody>
      </p:sp>
      <p:sp>
        <p:nvSpPr>
          <p:cNvPr id="12" name="Text 12"/>
          <p:cNvSpPr txBox="1"/>
          <p:nvPr/>
        </p:nvSpPr>
        <p:spPr>
          <a:xfrm>
            <a:off x="75895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问题</a:t>
            </a:r>
            <a:endParaRPr lang="zh-CN" sz="2100"/>
          </a:p>
        </p:txBody>
      </p:sp>
      <p:sp>
        <p:nvSpPr>
          <p:cNvPr id="13" name="Text 13"/>
          <p:cNvSpPr txBox="1"/>
          <p:nvPr/>
        </p:nvSpPr>
        <p:spPr>
          <a:xfrm>
            <a:off x="75895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为什么值得研究？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214884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231343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02</a:t>
            </a:r>
            <a:endParaRPr lang="zh-CN" sz="1000"/>
          </a:p>
        </p:txBody>
      </p:sp>
      <p:sp>
        <p:nvSpPr>
          <p:cNvPr id="15" name="Text 15"/>
          <p:cNvSpPr txBox="1"/>
          <p:nvPr/>
        </p:nvSpPr>
        <p:spPr>
          <a:xfrm>
            <a:off x="231343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设计</a:t>
            </a:r>
            <a:endParaRPr lang="zh-CN" sz="2100"/>
          </a:p>
        </p:txBody>
      </p:sp>
      <p:sp>
        <p:nvSpPr>
          <p:cNvPr id="16" name="Text 16"/>
          <p:cNvSpPr txBox="1"/>
          <p:nvPr/>
        </p:nvSpPr>
        <p:spPr>
          <a:xfrm>
            <a:off x="231343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用什么证据回答？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370332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386791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03</a:t>
            </a:r>
            <a:endParaRPr lang="zh-CN" sz="1000"/>
          </a:p>
        </p:txBody>
      </p:sp>
      <p:sp>
        <p:nvSpPr>
          <p:cNvPr id="18" name="Text 18"/>
          <p:cNvSpPr txBox="1"/>
          <p:nvPr/>
        </p:nvSpPr>
        <p:spPr>
          <a:xfrm>
            <a:off x="386791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样本</a:t>
            </a:r>
            <a:endParaRPr lang="zh-CN" sz="2100"/>
          </a:p>
        </p:txBody>
      </p:sp>
      <p:sp>
        <p:nvSpPr>
          <p:cNvPr id="19" name="Text 19"/>
          <p:cNvSpPr txBox="1"/>
          <p:nvPr/>
        </p:nvSpPr>
        <p:spPr>
          <a:xfrm>
            <a:off x="386791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谁能够代表谁？</a:t>
            </a:r>
            <a:endParaRPr lang="zh-CN" sz="1000"/>
          </a:p>
        </p:txBody>
      </p:sp>
      <p:sp>
        <p:nvSpPr>
          <p:cNvPr id="19" name="Shape 19"/>
          <p:cNvSpPr/>
          <p:nvPr/>
        </p:nvSpPr>
        <p:spPr>
          <a:xfrm>
            <a:off x="525780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542239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04</a:t>
            </a:r>
            <a:endParaRPr lang="zh-CN" sz="1000"/>
          </a:p>
        </p:txBody>
      </p:sp>
      <p:sp>
        <p:nvSpPr>
          <p:cNvPr id="21" name="Text 21"/>
          <p:cNvSpPr txBox="1"/>
          <p:nvPr/>
        </p:nvSpPr>
        <p:spPr>
          <a:xfrm>
            <a:off x="542239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发现</a:t>
            </a:r>
            <a:endParaRPr lang="zh-CN" sz="2100"/>
          </a:p>
        </p:txBody>
      </p:sp>
      <p:sp>
        <p:nvSpPr>
          <p:cNvPr id="22" name="Text 22"/>
          <p:cNvSpPr txBox="1"/>
          <p:nvPr/>
        </p:nvSpPr>
        <p:spPr>
          <a:xfrm>
            <a:off x="542239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哪一个差异最关键？</a:t>
            </a:r>
            <a:endParaRPr lang="zh-CN" sz="1000"/>
          </a:p>
        </p:txBody>
      </p:sp>
      <p:sp>
        <p:nvSpPr>
          <p:cNvPr id="22" name="Shape 22"/>
          <p:cNvSpPr/>
          <p:nvPr/>
        </p:nvSpPr>
        <p:spPr>
          <a:xfrm>
            <a:off x="681228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97687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05</a:t>
            </a:r>
            <a:endParaRPr lang="zh-CN" sz="1000"/>
          </a:p>
        </p:txBody>
      </p:sp>
      <p:sp>
        <p:nvSpPr>
          <p:cNvPr id="24" name="Text 24"/>
          <p:cNvSpPr txBox="1"/>
          <p:nvPr/>
        </p:nvSpPr>
        <p:spPr>
          <a:xfrm>
            <a:off x="697687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解释</a:t>
            </a:r>
            <a:endParaRPr lang="zh-CN" sz="2100"/>
          </a:p>
        </p:txBody>
      </p:sp>
      <p:sp>
        <p:nvSpPr>
          <p:cNvPr id="25" name="Text 25"/>
          <p:cNvSpPr txBox="1"/>
          <p:nvPr/>
        </p:nvSpPr>
        <p:spPr>
          <a:xfrm>
            <a:off x="697687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如何排除替代解释？</a:t>
            </a:r>
            <a:endParaRPr lang="zh-CN" sz="1000"/>
          </a:p>
        </p:txBody>
      </p:sp>
      <p:sp>
        <p:nvSpPr>
          <p:cNvPr id="25" name="Shape 25"/>
          <p:cNvSpPr/>
          <p:nvPr/>
        </p:nvSpPr>
        <p:spPr>
          <a:xfrm>
            <a:off x="836676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853135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06</a:t>
            </a:r>
            <a:endParaRPr lang="zh-CN" sz="1000"/>
          </a:p>
        </p:txBody>
      </p:sp>
      <p:sp>
        <p:nvSpPr>
          <p:cNvPr id="27" name="Text 27"/>
          <p:cNvSpPr txBox="1"/>
          <p:nvPr/>
        </p:nvSpPr>
        <p:spPr>
          <a:xfrm>
            <a:off x="853135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策略</a:t>
            </a:r>
            <a:endParaRPr lang="zh-CN" sz="2100"/>
          </a:p>
        </p:txBody>
      </p:sp>
      <p:sp>
        <p:nvSpPr>
          <p:cNvPr id="28" name="Text 28"/>
          <p:cNvSpPr txBox="1"/>
          <p:nvPr/>
        </p:nvSpPr>
        <p:spPr>
          <a:xfrm>
            <a:off x="853135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结论如何转化为行动？</a:t>
            </a:r>
            <a:endParaRPr lang="zh-CN" sz="1000"/>
          </a:p>
        </p:txBody>
      </p:sp>
      <p:sp>
        <p:nvSpPr>
          <p:cNvPr id="28" name="Shape 28"/>
          <p:cNvSpPr/>
          <p:nvPr/>
        </p:nvSpPr>
        <p:spPr>
          <a:xfrm>
            <a:off x="9921240" y="201168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0085832" y="2221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1" dirty="0">
                <a:solidFill>
                  <a:srgbClr val="777773"/>
                </a:solidFill>
                <a:latin typeface="Arial"/>
                <a:ea typeface="Courier New"/>
              </a:rPr>
              <a:t>07</a:t>
            </a:r>
            <a:endParaRPr lang="zh-CN" sz="1000"/>
          </a:p>
        </p:txBody>
      </p:sp>
      <p:sp>
        <p:nvSpPr>
          <p:cNvPr id="30" name="Text 30"/>
          <p:cNvSpPr txBox="1"/>
          <p:nvPr/>
        </p:nvSpPr>
        <p:spPr>
          <a:xfrm>
            <a:off x="10085832" y="26517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0A0A0A"/>
                </a:solidFill>
                <a:latin typeface="Arial"/>
                <a:ea typeface="PingFang SC"/>
              </a:rPr>
              <a:t>反思</a:t>
            </a:r>
            <a:endParaRPr lang="zh-CN" sz="2100"/>
          </a:p>
        </p:txBody>
      </p:sp>
      <p:sp>
        <p:nvSpPr>
          <p:cNvPr id="31" name="Text 31"/>
          <p:cNvSpPr txBox="1"/>
          <p:nvPr/>
        </p:nvSpPr>
        <p:spPr>
          <a:xfrm>
            <a:off x="10085832" y="3749040"/>
            <a:ext cx="1005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3A3A38"/>
                </a:solidFill>
                <a:latin typeface="Arial"/>
                <a:ea typeface="PingFang SC"/>
              </a:rPr>
              <a:t>边界与下一步是什么？</a:t>
            </a:r>
            <a:endParaRPr lang="zh-CN" sz="1000"/>
          </a:p>
        </p:txBody>
      </p:sp>
      <p:sp>
        <p:nvSpPr>
          <p:cNvPr id="40" name="Text 40"/>
          <p:cNvSpPr txBox="1"/>
          <p:nvPr/>
        </p:nvSpPr>
        <p:spPr>
          <a:xfrm>
            <a:off x="59436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900" b="0" dirty="0">
                <a:solidFill>
                  <a:srgbClr val="777773"/>
                </a:solidFill>
                <a:latin typeface="Arial"/>
                <a:ea typeface="Courier New"/>
              </a:rPr>
              <a:t>一页一个判断  /  一个判断一组证据  /  一页只留下一个行动方向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02 / CASE AT A GLANCE</a:t>
            </a:r>
            <a:endParaRPr lang="zh-CN" sz="800"/>
          </a:p>
        </p:txBody>
      </p:sp>
      <p:sp>
        <p:nvSpPr>
          <p:cNvPr id="3" name="Text 3"/>
          <p:cNvSpPr txBox="1"/>
          <p:nvPr/>
        </p:nvSpPr>
        <p:spPr>
          <a:xfrm>
            <a:off x="594360" y="713232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800" b="1" dirty="0">
                <a:solidFill>
                  <a:srgbClr val="0A0A0A"/>
                </a:solidFill>
                <a:latin typeface="Arial"/>
                <a:ea typeface="PingFang SC"/>
              </a:rPr>
              <a:t>先用一行字说清“决策缺口”</a:t>
            </a:r>
            <a:endParaRPr lang="zh-CN" sz="2800"/>
          </a:p>
        </p:txBody>
      </p:sp>
      <p:sp>
        <p:nvSpPr>
          <p:cNvPr id="4" name="Shape 4"/>
          <p:cNvSpPr/>
          <p:nvPr/>
        </p:nvSpPr>
        <p:spPr>
          <a:xfrm>
            <a:off x="594360" y="1783080"/>
            <a:ext cx="4983480" cy="18288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14400" y="20574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A7A7A2"/>
                </a:solidFill>
                <a:latin typeface="Arial"/>
                <a:ea typeface="Courier New"/>
              </a:rPr>
              <a:t>RESEARCH QUESTION</a:t>
            </a:r>
            <a:endParaRPr lang="zh-CN" sz="800"/>
          </a:p>
        </p:txBody>
      </p:sp>
      <p:sp>
        <p:nvSpPr>
          <p:cNvPr id="6" name="Text 6"/>
          <p:cNvSpPr txBox="1"/>
          <p:nvPr/>
        </p:nvSpPr>
        <p:spPr>
          <a:xfrm>
            <a:off x="914400" y="2514600"/>
            <a:ext cx="43434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PingFang SC"/>
              </a:rPr>
              <a:t>谁，在什么情境下，</a:t>
            </a:r>
            <a:endParaRPr lang="zh-CN" sz="2100"/>
          </a:p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PingFang SC"/>
              </a:rPr>
              <a:t>因为什么做出怎样的选择？</a:t>
            </a:r>
            <a:endParaRPr lang="zh-CN" sz="2100"/>
          </a:p>
        </p:txBody>
      </p:sp>
      <p:sp>
        <p:nvSpPr>
          <p:cNvPr id="7" name="Shape 7"/>
          <p:cNvSpPr/>
          <p:nvPr/>
        </p:nvSpPr>
        <p:spPr>
          <a:xfrm>
            <a:off x="589788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6217920" y="20574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DECISION GAP</a:t>
            </a:r>
            <a:endParaRPr lang="zh-CN" sz="800"/>
          </a:p>
        </p:txBody>
      </p:sp>
      <p:sp>
        <p:nvSpPr>
          <p:cNvPr id="9" name="Text 9"/>
          <p:cNvSpPr txBox="1"/>
          <p:nvPr/>
        </p:nvSpPr>
        <p:spPr>
          <a:xfrm>
            <a:off x="6217920" y="251460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800" b="1" dirty="0">
                <a:solidFill>
                  <a:srgbClr val="0A0A0A"/>
                </a:solidFill>
                <a:latin typeface="Arial"/>
                <a:ea typeface="PingFang SC"/>
              </a:rPr>
              <a:t>把“我想调查……”改写为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0A0A0A"/>
                </a:solidFill>
                <a:latin typeface="Arial"/>
                <a:ea typeface="PingFang SC"/>
              </a:rPr>
              <a:t>“谁需要据此做什么决定？”</a:t>
            </a:r>
            <a:endParaRPr lang="zh-CN" sz="1800"/>
          </a:p>
        </p:txBody>
      </p:sp>
      <p:sp>
        <p:nvSpPr>
          <p:cNvPr id="10" name="Shape 10"/>
          <p:cNvSpPr/>
          <p:nvPr/>
        </p:nvSpPr>
        <p:spPr>
          <a:xfrm>
            <a:off x="594360" y="397764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4160520" y="397764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A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7726680" y="39776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41248" y="42519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AUDIENCE</a:t>
            </a:r>
            <a:endParaRPr lang="zh-CN" sz="800"/>
          </a:p>
        </p:txBody>
      </p:sp>
      <p:sp>
        <p:nvSpPr>
          <p:cNvPr id="14" name="Text 14"/>
          <p:cNvSpPr txBox="1"/>
          <p:nvPr/>
        </p:nvSpPr>
        <p:spPr>
          <a:xfrm>
            <a:off x="841248" y="45720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400" b="1" dirty="0">
                <a:solidFill>
                  <a:srgbClr val="0A0A0A"/>
                </a:solidFill>
                <a:latin typeface="Arial"/>
                <a:ea typeface="PingFang SC"/>
              </a:rPr>
              <a:t>核心人群 + 对照人群</a:t>
            </a:r>
            <a:endParaRPr lang="zh-CN" sz="1400"/>
          </a:p>
        </p:txBody>
      </p:sp>
      <p:sp>
        <p:nvSpPr>
          <p:cNvPr id="15" name="Text 15"/>
          <p:cNvSpPr txBox="1"/>
          <p:nvPr/>
        </p:nvSpPr>
        <p:spPr>
          <a:xfrm>
            <a:off x="4407408" y="42519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METHOD</a:t>
            </a:r>
            <a:endParaRPr lang="zh-CN" sz="800"/>
          </a:p>
        </p:txBody>
      </p:sp>
      <p:sp>
        <p:nvSpPr>
          <p:cNvPr id="16" name="Text 16"/>
          <p:cNvSpPr txBox="1"/>
          <p:nvPr/>
        </p:nvSpPr>
        <p:spPr>
          <a:xfrm>
            <a:off x="4407408" y="4572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400" b="1" dirty="0">
                <a:solidFill>
                  <a:srgbClr val="0A0A0A"/>
                </a:solidFill>
                <a:latin typeface="Arial"/>
                <a:ea typeface="PingFang SC"/>
              </a:rPr>
              <a:t>探索 + 验证 + 稳健性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7973568" y="42519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EVIDENCE</a:t>
            </a:r>
            <a:endParaRPr lang="zh-CN" sz="800"/>
          </a:p>
        </p:txBody>
      </p:sp>
      <p:sp>
        <p:nvSpPr>
          <p:cNvPr id="18" name="Text 18"/>
          <p:cNvSpPr txBox="1"/>
          <p:nvPr/>
        </p:nvSpPr>
        <p:spPr>
          <a:xfrm>
            <a:off x="7973568" y="45720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400" b="1" dirty="0">
                <a:solidFill>
                  <a:srgbClr val="0A0A0A"/>
                </a:solidFill>
                <a:latin typeface="Arial"/>
                <a:ea typeface="PingFang SC"/>
              </a:rPr>
              <a:t>数据来源 → 关键指标</a:t>
            </a:r>
            <a:endParaRPr lang="zh-CN" sz="1400"/>
          </a:p>
        </p:txBody>
      </p:sp>
      <p:sp>
        <p:nvSpPr>
          <p:cNvPr id="19" name="Text 19"/>
          <p:cNvSpPr txBox="1"/>
          <p:nvPr/>
        </p:nvSpPr>
        <p:spPr>
          <a:xfrm>
            <a:off x="594360" y="597103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555551"/>
                </a:solidFill>
                <a:latin typeface="Arial"/>
                <a:ea typeface="PingFang SC"/>
              </a:rPr>
              <a:t>TIP：问题里出现“认知 / 意愿 / 影响因素”时，继续追问一个具体决策场景。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03 / HYPOTHESIS SYSTEM</a:t>
            </a:r>
            <a:endParaRPr lang="zh-CN" sz="800"/>
          </a:p>
        </p:txBody>
      </p:sp>
      <p:sp>
        <p:nvSpPr>
          <p:cNvPr id="3" name="Text 3"/>
          <p:cNvSpPr txBox="1"/>
          <p:nvPr/>
        </p:nvSpPr>
        <p:spPr>
          <a:xfrm>
            <a:off x="594360" y="713232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800" b="1" dirty="0">
                <a:solidFill>
                  <a:srgbClr val="0A0A0A"/>
                </a:solidFill>
                <a:latin typeface="Arial"/>
                <a:ea typeface="PingFang SC"/>
              </a:rPr>
              <a:t>没有假设，就没有选择证据的标准</a:t>
            </a:r>
            <a:endParaRPr lang="zh-CN" sz="2800"/>
          </a:p>
        </p:txBody>
      </p:sp>
      <p:sp>
        <p:nvSpPr>
          <p:cNvPr id="4" name="Shape 4"/>
          <p:cNvSpPr/>
          <p:nvPr/>
        </p:nvSpPr>
        <p:spPr>
          <a:xfrm>
            <a:off x="594360" y="178308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8686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DRIVER</a:t>
            </a:r>
            <a:endParaRPr lang="zh-CN" sz="800"/>
          </a:p>
        </p:txBody>
      </p:sp>
      <p:sp>
        <p:nvSpPr>
          <p:cNvPr id="6" name="Text 6"/>
          <p:cNvSpPr txBox="1"/>
          <p:nvPr/>
        </p:nvSpPr>
        <p:spPr>
          <a:xfrm>
            <a:off x="868680" y="256032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200" b="1" dirty="0">
                <a:solidFill>
                  <a:srgbClr val="0A0A0A"/>
                </a:solidFill>
                <a:latin typeface="Arial"/>
                <a:ea typeface="PingFang SC"/>
              </a:rPr>
              <a:t>信息透明度</a:t>
            </a:r>
            <a:endParaRPr lang="zh-CN" sz="2200"/>
          </a:p>
        </p:txBody>
      </p:sp>
      <p:sp>
        <p:nvSpPr>
          <p:cNvPr id="7" name="Text 7"/>
          <p:cNvSpPr txBox="1"/>
          <p:nvPr/>
        </p:nvSpPr>
        <p:spPr>
          <a:xfrm>
            <a:off x="868680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555551"/>
                </a:solidFill>
                <a:latin typeface="Arial"/>
                <a:ea typeface="PingFang SC"/>
              </a:rPr>
              <a:t>可验证、可比较、可追溯</a:t>
            </a:r>
            <a:endParaRPr lang="zh-CN" sz="1000"/>
          </a:p>
        </p:txBody>
      </p:sp>
      <p:sp>
        <p:nvSpPr>
          <p:cNvPr id="8" name="Shape 8"/>
          <p:cNvSpPr/>
          <p:nvPr/>
        </p:nvSpPr>
        <p:spPr>
          <a:xfrm>
            <a:off x="3657600" y="1783080"/>
            <a:ext cx="2743200" cy="3246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393192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A7A7A2"/>
                </a:solidFill>
                <a:latin typeface="Arial"/>
                <a:ea typeface="Courier New"/>
              </a:rPr>
              <a:t>MECHANISM</a:t>
            </a:r>
            <a:endParaRPr lang="zh-CN" sz="800"/>
          </a:p>
        </p:txBody>
      </p:sp>
      <p:sp>
        <p:nvSpPr>
          <p:cNvPr id="10" name="Text 10"/>
          <p:cNvSpPr txBox="1"/>
          <p:nvPr/>
        </p:nvSpPr>
        <p:spPr>
          <a:xfrm>
            <a:off x="3931920" y="256032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200" b="1" dirty="0">
                <a:solidFill>
                  <a:srgbClr val="FFFFFF"/>
                </a:solidFill>
                <a:latin typeface="Arial"/>
                <a:ea typeface="PingFang SC"/>
              </a:rPr>
              <a:t>信任形成</a:t>
            </a:r>
            <a:endParaRPr lang="zh-CN" sz="2200"/>
          </a:p>
        </p:txBody>
      </p:sp>
      <p:sp>
        <p:nvSpPr>
          <p:cNvPr id="11" name="Text 11"/>
          <p:cNvSpPr txBox="1"/>
          <p:nvPr/>
        </p:nvSpPr>
        <p:spPr>
          <a:xfrm>
            <a:off x="3931920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C4C4BF"/>
                </a:solidFill>
                <a:latin typeface="Arial"/>
                <a:ea typeface="PingFang SC"/>
              </a:rPr>
              <a:t>能力信任 × 善意信任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6720840" y="178308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99516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OUTCOME</a:t>
            </a:r>
            <a:endParaRPr lang="zh-CN" sz="800"/>
          </a:p>
        </p:txBody>
      </p:sp>
      <p:sp>
        <p:nvSpPr>
          <p:cNvPr id="14" name="Text 14"/>
          <p:cNvSpPr txBox="1"/>
          <p:nvPr/>
        </p:nvSpPr>
        <p:spPr>
          <a:xfrm>
            <a:off x="6995160" y="256032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200" b="1" dirty="0">
                <a:solidFill>
                  <a:srgbClr val="0A0A0A"/>
                </a:solidFill>
                <a:latin typeface="Arial"/>
                <a:ea typeface="PingFang SC"/>
              </a:rPr>
              <a:t>支付意愿</a:t>
            </a:r>
            <a:endParaRPr lang="zh-CN" sz="2200"/>
          </a:p>
        </p:txBody>
      </p:sp>
      <p:sp>
        <p:nvSpPr>
          <p:cNvPr id="15" name="Text 15"/>
          <p:cNvSpPr txBox="1"/>
          <p:nvPr/>
        </p:nvSpPr>
        <p:spPr>
          <a:xfrm>
            <a:off x="6995160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000" b="0" dirty="0">
                <a:solidFill>
                  <a:srgbClr val="555551"/>
                </a:solidFill>
                <a:latin typeface="Arial"/>
                <a:ea typeface="PingFang SC"/>
              </a:rPr>
              <a:t>偏好份额 × 溢价区间</a:t>
            </a:r>
            <a:endParaRPr lang="zh-CN" sz="1000"/>
          </a:p>
        </p:txBody>
      </p:sp>
      <p:sp>
        <p:nvSpPr>
          <p:cNvPr id="16" name="Text 16"/>
          <p:cNvSpPr txBox="1"/>
          <p:nvPr/>
        </p:nvSpPr>
        <p:spPr>
          <a:xfrm>
            <a:off x="9738360" y="2697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800" b="1" dirty="0">
                <a:solidFill>
                  <a:srgbClr val="0A0A0A"/>
                </a:solidFill>
                <a:latin typeface="Arial"/>
                <a:ea typeface="PingFang SC"/>
              </a:rPr>
              <a:t>→</a:t>
            </a:r>
            <a:endParaRPr lang="zh-CN" sz="2800"/>
          </a:p>
        </p:txBody>
      </p:sp>
      <p:sp>
        <p:nvSpPr>
          <p:cNvPr id="17" name="Text 17"/>
          <p:cNvSpPr txBox="1"/>
          <p:nvPr/>
        </p:nvSpPr>
        <p:spPr>
          <a:xfrm>
            <a:off x="594360" y="553212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200" b="0" dirty="0">
                <a:solidFill>
                  <a:srgbClr val="555551"/>
                </a:solidFill>
                <a:latin typeface="Arial"/>
                <a:ea typeface="PingFang SC"/>
              </a:rPr>
              <a:t>写出中介 / 调节假设后，再决定题目与模型。不要让分析方法反过来定义研究问题。</a:t>
            </a:r>
            <a:endParaRPr 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04 / KEY FINDING</a:t>
            </a:r>
            <a:endParaRPr lang="zh-CN" sz="800"/>
          </a:p>
        </p:txBody>
      </p:sp>
      <p:sp>
        <p:nvSpPr>
          <p:cNvPr id="3" name="Text 3"/>
          <p:cNvSpPr txBox="1"/>
          <p:nvPr/>
        </p:nvSpPr>
        <p:spPr>
          <a:xfrm>
            <a:off x="594360" y="713232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800" b="1" dirty="0">
                <a:solidFill>
                  <a:srgbClr val="0A0A0A"/>
                </a:solidFill>
                <a:latin typeface="Arial"/>
                <a:ea typeface="PingFang SC"/>
              </a:rPr>
              <a:t>标题写结论，而不是写“结果分析”</a:t>
            </a:r>
            <a:endParaRPr lang="zh-CN" sz="2800"/>
          </a:p>
        </p:txBody>
      </p:sp>
      <p:sp>
        <p:nvSpPr>
          <p:cNvPr id="4" name="Text 4"/>
          <p:cNvSpPr txBox="1"/>
          <p:nvPr/>
        </p:nvSpPr>
        <p:spPr>
          <a:xfrm>
            <a:off x="594360" y="1920240"/>
            <a:ext cx="48463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PingFang SC"/>
              </a:rPr>
              <a:t>信息透明度较高的用户组，</a:t>
            </a:r>
            <a:endParaRPr lang="zh-CN" sz="2700"/>
          </a:p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PingFang SC"/>
              </a:rPr>
              <a:t>支付溢价高 18%。</a:t>
            </a:r>
            <a:endParaRPr lang="zh-CN" sz="2700"/>
          </a:p>
        </p:txBody>
      </p:sp>
      <p:sp>
        <p:nvSpPr>
          <p:cNvPr id="5" name="Text 5"/>
          <p:cNvSpPr txBox="1"/>
          <p:nvPr/>
        </p:nvSpPr>
        <p:spPr>
          <a:xfrm>
            <a:off x="594360" y="361188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200" b="0" dirty="0">
                <a:solidFill>
                  <a:srgbClr val="555551"/>
                </a:solidFill>
                <a:latin typeface="Arial"/>
                <a:ea typeface="PingFang SC"/>
              </a:rPr>
              <a:t>差异在 25—35 岁、首次购买人群中更明显；</a:t>
            </a:r>
            <a:endParaRPr lang="zh-CN" sz="1200"/>
          </a:p>
          <a:p>
            <a:pPr algn="l"/>
            <a:r>
              <a:rPr lang="zh-CN" sz="1200" b="0" dirty="0">
                <a:solidFill>
                  <a:srgbClr val="555551"/>
                </a:solidFill>
                <a:latin typeface="Arial"/>
                <a:ea typeface="PingFang SC"/>
              </a:rPr>
              <a:t>低信任组的价格敏感度保持稳定。</a:t>
            </a:r>
            <a:endParaRPr lang="zh-CN" sz="1200"/>
          </a:p>
        </p:txBody>
      </p:sp>
      <p:sp>
        <p:nvSpPr>
          <p:cNvPr id="6" name="Shape 6"/>
          <p:cNvSpPr/>
          <p:nvPr/>
        </p:nvSpPr>
        <p:spPr>
          <a:xfrm>
            <a:off x="5715000" y="1737360"/>
            <a:ext cx="5532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5989320" y="20299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WILLINGNESS TO PAY / INDEX</a:t>
            </a:r>
            <a:endParaRPr lang="zh-CN" sz="800"/>
          </a:p>
        </p:txBody>
      </p:sp>
      <p:sp>
        <p:nvSpPr>
          <p:cNvPr id="10" name="Shape 10"/>
          <p:cNvSpPr/>
          <p:nvPr/>
        </p:nvSpPr>
        <p:spPr>
          <a:xfrm>
            <a:off x="6217920" y="3703320"/>
            <a:ext cx="868680" cy="914400"/>
          </a:xfrm>
          <a:prstGeom prst="rect">
            <a:avLst/>
          </a:prstGeom>
          <a:solidFill>
            <a:srgbClr val="B1B1AC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217920" y="475488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zh-CN" sz="800" b="0" dirty="0">
                <a:solidFill>
                  <a:srgbClr val="555551"/>
                </a:solidFill>
                <a:latin typeface="Arial"/>
                <a:ea typeface="Courier New"/>
              </a:rPr>
              <a:t>低信息</a:t>
            </a:r>
            <a:endParaRPr lang="zh-CN" sz="800"/>
          </a:p>
        </p:txBody>
      </p:sp>
      <p:sp>
        <p:nvSpPr>
          <p:cNvPr id="11" name="Shape 11"/>
          <p:cNvSpPr/>
          <p:nvPr/>
        </p:nvSpPr>
        <p:spPr>
          <a:xfrm>
            <a:off x="7635240" y="3108960"/>
            <a:ext cx="868680" cy="1508760"/>
          </a:xfrm>
          <a:prstGeom prst="rect">
            <a:avLst/>
          </a:prstGeom>
          <a:solidFill>
            <a:srgbClr val="B1B1AC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7635240" y="475488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zh-CN" sz="800" b="0" dirty="0">
                <a:solidFill>
                  <a:srgbClr val="555551"/>
                </a:solidFill>
                <a:latin typeface="Arial"/>
                <a:ea typeface="Courier New"/>
              </a:rPr>
              <a:t>中信息</a:t>
            </a:r>
            <a:endParaRPr lang="zh-CN" sz="800"/>
          </a:p>
        </p:txBody>
      </p:sp>
      <p:sp>
        <p:nvSpPr>
          <p:cNvPr id="12" name="Shape 12"/>
          <p:cNvSpPr/>
          <p:nvPr/>
        </p:nvSpPr>
        <p:spPr>
          <a:xfrm>
            <a:off x="9052560" y="2423160"/>
            <a:ext cx="86868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9052560" y="475488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zh-CN" sz="800" b="0" dirty="0">
                <a:solidFill>
                  <a:srgbClr val="555551"/>
                </a:solidFill>
                <a:latin typeface="Arial"/>
                <a:ea typeface="Courier New"/>
              </a:rPr>
              <a:t>高信息</a:t>
            </a:r>
            <a:endParaRPr lang="zh-CN" sz="800"/>
          </a:p>
        </p:txBody>
      </p:sp>
      <p:sp>
        <p:nvSpPr>
          <p:cNvPr id="17" name="Text 17"/>
          <p:cNvSpPr txBox="1"/>
          <p:nvPr/>
        </p:nvSpPr>
        <p:spPr>
          <a:xfrm>
            <a:off x="5989320" y="507492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700" b="0" dirty="0">
                <a:solidFill>
                  <a:srgbClr val="777773"/>
                </a:solidFill>
                <a:latin typeface="Arial"/>
                <a:ea typeface="Courier New"/>
              </a:rPr>
              <a:t>n = 428  ·  controlled for age, income and prior experience  ·  95% CI shown in appendix</a:t>
            </a:r>
            <a:endParaRPr lang="zh-CN" sz="700"/>
          </a:p>
        </p:txBody>
      </p:sp>
      <p:sp>
        <p:nvSpPr>
          <p:cNvPr id="18" name="Text 18"/>
          <p:cNvSpPr txBox="1"/>
          <p:nvPr/>
        </p:nvSpPr>
        <p:spPr>
          <a:xfrm>
            <a:off x="594360" y="59893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900" b="0" dirty="0">
                <a:solidFill>
                  <a:srgbClr val="777773"/>
                </a:solidFill>
                <a:latin typeface="Arial"/>
                <a:ea typeface="Courier New"/>
              </a:rPr>
              <a:t>强调差异，而不是让平均分站 C 位。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A7A7A2"/>
                </a:solidFill>
                <a:latin typeface="Arial"/>
                <a:ea typeface="Courier New"/>
              </a:rPr>
              <a:t>05 / ACTION MAP</a:t>
            </a:r>
            <a:endParaRPr lang="zh-CN" sz="800"/>
          </a:p>
        </p:txBody>
      </p:sp>
      <p:sp>
        <p:nvSpPr>
          <p:cNvPr id="4" name="Text 4"/>
          <p:cNvSpPr txBox="1"/>
          <p:nvPr/>
        </p:nvSpPr>
        <p:spPr>
          <a:xfrm>
            <a:off x="594360" y="7772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PingFang SC"/>
              </a:rPr>
              <a:t>让研究结论落到下一步</a:t>
            </a:r>
            <a:endParaRPr lang="zh-CN" sz="3000"/>
          </a:p>
        </p:txBody>
      </p:sp>
      <p:sp>
        <p:nvSpPr>
          <p:cNvPr id="5" name="Text 5"/>
          <p:cNvSpPr txBox="1"/>
          <p:nvPr/>
        </p:nvSpPr>
        <p:spPr>
          <a:xfrm>
            <a:off x="594360" y="18745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900" b="1" dirty="0">
                <a:solidFill>
                  <a:srgbClr val="FFFFFF"/>
                </a:solidFill>
                <a:latin typeface="Arial"/>
                <a:ea typeface="PingFang SC"/>
              </a:rPr>
              <a:t>01  高机会人群先做验证</a:t>
            </a:r>
            <a:endParaRPr lang="zh-CN" sz="1900"/>
          </a:p>
        </p:txBody>
      </p:sp>
      <p:sp>
        <p:nvSpPr>
          <p:cNvPr id="6" name="Text 6"/>
          <p:cNvSpPr txBox="1"/>
          <p:nvPr/>
        </p:nvSpPr>
        <p:spPr>
          <a:xfrm>
            <a:off x="594360" y="2395728"/>
            <a:ext cx="5166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100" b="0" dirty="0">
                <a:solidFill>
                  <a:srgbClr val="B8B8B2"/>
                </a:solidFill>
                <a:latin typeface="Arial"/>
                <a:ea typeface="PingFang SC"/>
              </a:rPr>
              <a:t>选择高信息敏感且低信任的首次购买者，</a:t>
            </a:r>
            <a:endParaRPr lang="zh-CN" sz="1100"/>
          </a:p>
          <a:p>
            <a:pPr algn="l"/>
            <a:r>
              <a:rPr lang="zh-CN" sz="1100" b="0" dirty="0">
                <a:solidFill>
                  <a:srgbClr val="B8B8B2"/>
                </a:solidFill>
                <a:latin typeface="Arial"/>
                <a:ea typeface="PingFang SC"/>
              </a:rPr>
              <a:t>进行 4 周 A/B 信息页测试。</a:t>
            </a:r>
            <a:endParaRPr lang="zh-CN" sz="1100"/>
          </a:p>
        </p:txBody>
      </p:sp>
      <p:sp>
        <p:nvSpPr>
          <p:cNvPr id="7" name="Text 7"/>
          <p:cNvSpPr txBox="1"/>
          <p:nvPr/>
        </p:nvSpPr>
        <p:spPr>
          <a:xfrm>
            <a:off x="594360" y="34747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900" b="1" dirty="0">
                <a:solidFill>
                  <a:srgbClr val="FFFFFF"/>
                </a:solidFill>
                <a:latin typeface="Arial"/>
                <a:ea typeface="PingFang SC"/>
              </a:rPr>
              <a:t>02  把质量信号做成可比较信息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594360" y="3995928"/>
            <a:ext cx="5166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100" b="0" dirty="0">
                <a:solidFill>
                  <a:srgbClr val="B8B8B2"/>
                </a:solidFill>
                <a:latin typeface="Arial"/>
                <a:ea typeface="PingFang SC"/>
              </a:rPr>
              <a:t>统一标签、检测来源和同类规格的呈现方式，</a:t>
            </a:r>
            <a:endParaRPr lang="zh-CN" sz="1100"/>
          </a:p>
          <a:p>
            <a:pPr algn="l"/>
            <a:r>
              <a:rPr lang="zh-CN" sz="1100" b="0" dirty="0">
                <a:solidFill>
                  <a:srgbClr val="B8B8B2"/>
                </a:solidFill>
                <a:latin typeface="Arial"/>
                <a:ea typeface="PingFang SC"/>
              </a:rPr>
              <a:t>减少用户的信息处理成本。</a:t>
            </a:r>
            <a:endParaRPr lang="zh-CN" sz="1100"/>
          </a:p>
        </p:txBody>
      </p:sp>
      <p:sp>
        <p:nvSpPr>
          <p:cNvPr id="9" name="Text 9"/>
          <p:cNvSpPr txBox="1"/>
          <p:nvPr/>
        </p:nvSpPr>
        <p:spPr>
          <a:xfrm>
            <a:off x="594360" y="50749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900" b="1" dirty="0">
                <a:solidFill>
                  <a:srgbClr val="FFFFFF"/>
                </a:solidFill>
                <a:latin typeface="Arial"/>
                <a:ea typeface="PingFang SC"/>
              </a:rPr>
              <a:t>03  分群复盘，不用总平均掩盖差异</a:t>
            </a:r>
            <a:endParaRPr lang="zh-CN" sz="1900"/>
          </a:p>
        </p:txBody>
      </p:sp>
      <p:sp>
        <p:nvSpPr>
          <p:cNvPr id="10" name="Text 10"/>
          <p:cNvSpPr txBox="1"/>
          <p:nvPr/>
        </p:nvSpPr>
        <p:spPr>
          <a:xfrm>
            <a:off x="594360" y="5596128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100" b="0" dirty="0">
                <a:solidFill>
                  <a:srgbClr val="B8B8B2"/>
                </a:solidFill>
                <a:latin typeface="Arial"/>
                <a:ea typeface="PingFang SC"/>
              </a:rPr>
              <a:t>记录年龄、经验与信任变化，建立分群仪表盘。</a:t>
            </a:r>
            <a:endParaRPr lang="zh-CN" sz="1100"/>
          </a:p>
        </p:txBody>
      </p:sp>
      <p:sp>
        <p:nvSpPr>
          <p:cNvPr id="11" name="Shape 11"/>
          <p:cNvSpPr/>
          <p:nvPr/>
        </p:nvSpPr>
        <p:spPr>
          <a:xfrm>
            <a:off x="6492240" y="1097280"/>
            <a:ext cx="48920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858000" y="14813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900" b="1" dirty="0">
                <a:solidFill>
                  <a:srgbClr val="777773"/>
                </a:solidFill>
                <a:latin typeface="Arial"/>
                <a:ea typeface="Courier New"/>
              </a:rPr>
              <a:t>FINAL CHECK</a:t>
            </a:r>
            <a:endParaRPr lang="zh-CN" sz="900"/>
          </a:p>
        </p:txBody>
      </p:sp>
      <p:sp>
        <p:nvSpPr>
          <p:cNvPr id="13" name="Text 13"/>
          <p:cNvSpPr txBox="1"/>
          <p:nvPr/>
        </p:nvSpPr>
        <p:spPr>
          <a:xfrm>
            <a:off x="6858000" y="1901952"/>
            <a:ext cx="416052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问题是否对应真实决策？</a:t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/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样本框能否支持外推？</a:t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/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每个结论是否有证据？</a:t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/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是否排除替代解释？</a:t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/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图表是否一眼可读？</a:t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/>
            </a:r>
            <a:endParaRPr lang="zh-CN" sz="1600"/>
          </a:p>
          <a:p>
            <a:pPr algn="l"/>
            <a:r>
              <a:rPr lang="zh-CN" sz="1600" b="1" dirty="0">
                <a:solidFill>
                  <a:srgbClr val="0A0A0A"/>
                </a:solidFill>
                <a:latin typeface="Arial"/>
                <a:ea typeface="PingFang SC"/>
              </a:rPr>
              <a:t>□  策略是否明确到动作？</a:t>
            </a:r>
            <a:endParaRPr lang="zh-CN" sz="1600"/>
          </a:p>
        </p:txBody>
      </p:sp>
      <p:sp>
        <p:nvSpPr>
          <p:cNvPr id="14" name="Text 14"/>
          <p:cNvSpPr txBox="1"/>
          <p:nvPr/>
        </p:nvSpPr>
        <p:spPr>
          <a:xfrm>
            <a:off x="6858000" y="5440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zh-CN" sz="800" b="1" dirty="0">
                <a:solidFill>
                  <a:srgbClr val="777773"/>
                </a:solidFill>
                <a:latin typeface="Arial"/>
                <a:ea typeface="Courier New"/>
              </a:rPr>
              <a:t>FIELD / 01   QUESTION FIRST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01 Monochrome">
  <a:themeElements>
    <a:clrScheme name="FIELD / 01">
      <a:dk1>
        <a:srgbClr val="0A0A0A"/>
      </a:dk1>
      <a:lt1>
        <a:srgbClr val="FFFFFF"/>
      </a:lt1>
      <a:dk2>
        <a:srgbClr val="333333"/>
      </a:dk2>
      <a:lt2>
        <a:srgbClr val="F2F2EF"/>
      </a:lt2>
      <a:accent1>
        <a:srgbClr val="000000"/>
      </a:accent1>
      <a:accent2>
        <a:srgbClr val="333333"/>
      </a:accent2>
      <a:accent3>
        <a:srgbClr val="666666"/>
      </a:accent3>
      <a:accent4>
        <a:srgbClr val="999999"/>
      </a:accent4>
      <a:accent5>
        <a:srgbClr val="C8C8C2"/>
      </a:accent5>
      <a:accent6>
        <a:srgbClr val="E9E9E5"/>
      </a:accent6>
      <a:hlink>
        <a:srgbClr val="000000"/>
      </a:hlink>
      <a:folHlink>
        <a:srgbClr val="000000"/>
      </a:folHlink>
    </a:clrScheme>
    <a:fontScheme name="FIELD / 01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FIELD / 01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正大杯案例拆解模板</dc:title>
  <dc:creator>FIELD / 01</dc:creator>
  <cp:lastModifiedBy>FIELD / 01</cp:lastModifiedBy>
  <dcterms:created xsi:type="dcterms:W3CDTF">2026-10-28T00:00:00Z</dcterms:created>
  <dcterms:modified xsi:type="dcterms:W3CDTF">2026-10-28T00:00:00Z</dcterms:modified>
</cp:coreProperties>
</file>